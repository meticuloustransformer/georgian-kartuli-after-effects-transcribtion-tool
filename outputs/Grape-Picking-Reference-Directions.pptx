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77cdff30e4ad1" /><Relationship Type="http://schemas.openxmlformats.org/officeDocument/2006/relationships/extended-properties" Target="/docProps/app.xml" Id="R5f36694e5acb4171" /><Relationship Type="http://schemas.openxmlformats.org/officeDocument/2006/relationships/officeDocument" Target="/ppt/presentation.xml" Id="Rbd7fe7ecaa9b45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0526837834c33"/>
  </p:sldMasterIdLst>
  <p:notesMasterIdLst>
    <p:notesMasterId xmlns:r="http://schemas.openxmlformats.org/officeDocument/2006/relationships" r:id="R431aa597d19f4803"/>
  </p:notesMasterIdLst>
  <p:sldIdLst>
    <p:sldId xmlns:r="http://schemas.openxmlformats.org/officeDocument/2006/relationships" id="256" r:id="R288bdfe393e146f7"/>
    <p:sldId xmlns:r="http://schemas.openxmlformats.org/officeDocument/2006/relationships" id="257" r:id="Rc2af09b187c94b84"/>
    <p:sldId xmlns:r="http://schemas.openxmlformats.org/officeDocument/2006/relationships" id="258" r:id="R72acbc3e7cbf41ff"/>
    <p:sldId xmlns:r="http://schemas.openxmlformats.org/officeDocument/2006/relationships" id="259" r:id="R0f2302b01d3b4bc4"/>
    <p:sldId xmlns:r="http://schemas.openxmlformats.org/officeDocument/2006/relationships" id="260" r:id="R718d84421a4046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7fb37297d348c3" /><Relationship Type="http://schemas.openxmlformats.org/officeDocument/2006/relationships/slideMaster" Target="/ppt/slideMasters/slideMaster1.xml" Id="R0240526837834c33" /><Relationship Type="http://schemas.openxmlformats.org/officeDocument/2006/relationships/notesMaster" Target="/ppt/notesMasters/notesMaster1.xml" Id="R431aa597d19f4803" /><Relationship Type="http://schemas.openxmlformats.org/officeDocument/2006/relationships/presProps" Target="/ppt/presProps.xml" Id="Rb2ec10163c6d4947" /><Relationship Type="http://schemas.openxmlformats.org/officeDocument/2006/relationships/tableStyles" Target="/ppt/tableStyles.xml" Id="Rf3d3da7890d445f4" /><Relationship Type="http://schemas.openxmlformats.org/officeDocument/2006/relationships/slide" Target="/ppt/slides/slide1.xml" Id="R288bdfe393e146f7" /><Relationship Type="http://schemas.openxmlformats.org/officeDocument/2006/relationships/slide" Target="/ppt/slides/slide2.xml" Id="Rc2af09b187c94b84" /><Relationship Type="http://schemas.openxmlformats.org/officeDocument/2006/relationships/slide" Target="/ppt/slides/slide3.xml" Id="R72acbc3e7cbf41ff" /><Relationship Type="http://schemas.openxmlformats.org/officeDocument/2006/relationships/slide" Target="/ppt/slides/slide4.xml" Id="R0f2302b01d3b4bc4" /><Relationship Type="http://schemas.openxmlformats.org/officeDocument/2006/relationships/slide" Target="/ppt/slides/slide5.xml" Id="R718d84421a40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729365f2d3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b91b6d01cf4e80" /><Relationship Type="http://schemas.openxmlformats.org/officeDocument/2006/relationships/notesMaster" Target="/ppt/notesMasters/notesMaster1.xml" Id="Raeb7d1c789484b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ac4692ab94ab4" /><Relationship Type="http://schemas.openxmlformats.org/officeDocument/2006/relationships/notesMaster" Target="/ppt/notesMasters/notesMaster1.xml" Id="Ree57aef7970742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63deca39c4c28" /><Relationship Type="http://schemas.openxmlformats.org/officeDocument/2006/relationships/notesMaster" Target="/ppt/notesMasters/notesMaster1.xml" Id="R3aa13f6308c44b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170980ad1468f" /><Relationship Type="http://schemas.openxmlformats.org/officeDocument/2006/relationships/notesMaster" Target="/ppt/notesMasters/notesMaster1.xml" Id="Rbcda6f7b139c40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8f7878fbd4ee2" /><Relationship Type="http://schemas.openxmlformats.org/officeDocument/2006/relationships/notesMaster" Target="/ppt/notesMasters/notesMaster1.xml" Id="R9fadf5291475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F:/GrapePicking/videos.md. No external factual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videos.md, Vimeo reference https://vimeo.com/293392791. Description paraphrases the supplied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videos.md, Vimeo reference https://vimeo.com/1050552369. The visual-language wording follows the supplied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videos.md, https://www.adsoftheworld.com/campaigns/the-original-startup and https://vimeo.com/1089436364. The final line is a proposed working direction inferred from the supplied reference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edit map inferred from the supplied reference notes. It introduces no unverified production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7be94dca8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3032075bd4ab0" /><Relationship Type="http://schemas.openxmlformats.org/officeDocument/2006/relationships/slideLayout" Target="/ppt/slideLayouts/slideLayout1.xml" Id="R926721183323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6721183323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48eaad05479f" /><Relationship Type="http://schemas.openxmlformats.org/officeDocument/2006/relationships/notesSlide" Target="/ppt/notesSlides/notesSlide1.xml" Id="R3d1b5cac7e36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470f25cd48fd" /><Relationship Type="http://schemas.openxmlformats.org/officeDocument/2006/relationships/notesSlide" Target="/ppt/notesSlides/notesSlide2.xml" Id="Rca09c8f4184949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2b314fbe14000" /><Relationship Type="http://schemas.openxmlformats.org/officeDocument/2006/relationships/notesSlide" Target="/ppt/notesSlides/notesSlide3.xml" Id="R1830125d099c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7a84e8b9e47f2" /><Relationship Type="http://schemas.openxmlformats.org/officeDocument/2006/relationships/notesSlide" Target="/ppt/notesSlides/notesSlide4.xml" Id="R3077acbf258e43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83bcd22ab49da" /><Relationship Type="http://schemas.openxmlformats.org/officeDocument/2006/relationships/notesSlide" Target="/ppt/notesSlides/notesSlide5.xml" Id="Rd3e0c3b0d0d7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EF360-F660-412C-8406-6960972B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698A1-DF2B-473F-ABA3-03F57D75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78"/>
          </a:bodyPr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ABC-D417-423A-9BC1-B4FF862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Film reference directions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705A3-7B77-472D-BBA1-5A282DD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compact reading of four supplied references for a grape-harvest film.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DA17E-91A6-4E12-8DC3-CD6C056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A53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5368"/>
                </a:solidFill>
                <a:latin typeface="Arial"/>
                <a:ea typeface="Arial"/>
                <a:cs typeface="Arial"/>
              </a:rPr>
              <a:t>WORKERS / RHYTHM / WINE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825A1-1142-4561-8024-54677A1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Selected video and campaign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3D562-E548-4FBE-B10D-6181860F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A0C8F-61C3-474A-931B-39B3E61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163352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5E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8FC01-BC1B-41C5-9ECE-F9D1D83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The strongest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ECA7E-E94D-4B37-972A-BA2E9F7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4F5A-3FE6-4FD9-8249-309D27F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9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Champagne, France</a:t>
            </a:r>
          </a:p>
          <a:p xmlns:a="http://schemas.openxmlformats.org/drawingml/2006/main">
            <a:pPr>
              <a:defRPr sz="32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Laura Naylor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A8D27-D911-4EDE-ADFC-6A62EE9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Feature-length cinéma-vérité documentary following the same harvest workers as they return each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E35C2-FC07-4946-B59F-2D9EF9F5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The human relationships carry the film.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881A1-AC6E-4B63-B849-4EBDC22A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4333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Bodies, fatigue, banter, social class, shared meals and sleeping arrangements create a temporary working community.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D8AA7-9F56-4856-86AC-069E89B7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62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Vimeo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4C5C7-E35E-4ED9-A402-851BF3B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673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vimeo.com/293392791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E3038-E5BF-4CB3-BDB4-95CE71EF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36C75-EAE2-48C2-B284-FE08757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2136732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3A72F-149D-41C2-A1E0-660C8B6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Visual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243D2-2AAE-45D3-A366-C006D677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0684-DF27-4033-A950-92D83765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Observe the work at human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D9303-3D38-4717-ABAF-A15B5DDF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709C0-667E-4F64-BF86-C7673D8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Hands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DA808-C71A-40C9-9B4A-CE6D8F2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Silhouettes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5F0DE-2727-4013-B2CE-EEB6826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Repetition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74185-CD0B-4147-8992-FADB0CC2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Expressions and small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7A80C-8B26-424E-9B5F-4FA3F66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Touch, tools and stained skin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3AF85-D72C-40F4-A903-3786500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57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Workers within the vineyard landscape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09E0A-FC50-407F-8AF3-5A597474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physical pattern of picking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480BE-B7AC-44F7-80B2-FB600992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Use restraint. Avoid heroic advertising clichés about hard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6C90C-672C-4EAE-B571-306C8018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6716E-C7ED-49EE-A220-47240F49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1909315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C77F0-A2EA-475E-BDFB-9598D4A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Two storytelling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69105-C83E-4F48-99F3-647FA8AF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1F33"/>
          </a:solidFill>
          <a:ln xmlns:a="http://schemas.openxmlformats.org/drawingml/2006/main" w="0">
            <a:solidFill>
              <a:srgbClr val="5E1F3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37C64-3A02-425F-9FF6-6472F9FA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5E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E1F33"/>
                </a:solidFill>
                <a:latin typeface="Arial"/>
                <a:ea typeface="Arial"/>
                <a:cs typeface="Arial"/>
              </a:rPr>
              <a:t>The harvest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CBC5E-111E-4ED6-99A4-9F166E4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An ordinary story of picking and the words around pouring wine. The supplied reference points to a 1:22 treatment.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DBC3-65CE-4C1D-872F-89AFAF7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526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5E1F3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E1F33"/>
                </a:solidFill>
                <a:latin typeface="Arial"/>
                <a:ea typeface="Arial"/>
                <a:cs typeface="Arial"/>
              </a:rPr>
              <a:t>The wine brand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2A398-926D-4470-9977-90C875D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4619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INNISKILLIN tells a wine success story in one minute. The supplied note says this reference is less about the harvest itself.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5DD69-02C2-4F28-A08E-E13F89D6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F755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F7551"/>
                </a:solidFill>
                <a:latin typeface="Arial"/>
                <a:ea typeface="Arial"/>
                <a:cs typeface="Arial"/>
              </a:rPr>
              <a:t>Useful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19585-F7B9-4C1B-AB5B-E6FDF1E3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824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41E1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1E1C"/>
                </a:solidFill>
                <a:latin typeface="Arial"/>
                <a:ea typeface="Arial"/>
                <a:cs typeface="Arial"/>
              </a:rPr>
              <a:t>Let the workers and the picking lead. Let wine remain the outcome, not the protagonist.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8596-8A50-4900-8659-91761DEB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448B5-A1B5-456E-BA9E-977AC88C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1263663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6F7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9EA55-69D4-4128-9CA7-690C95E8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Working film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6EA2C-9E9E-4D27-AFF2-4F134DA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27A"/>
          </a:solidFill>
          <a:ln xmlns:a="http://schemas.openxmlformats.org/drawingml/2006/main" w="0">
            <a:solidFill>
              <a:srgbClr val="D9C27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A95B7-84AD-480E-8D51-61EFF99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28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harvest story built from people, physical rhythm and the shared life around the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C7CFD-6085-49EA-BFC4-36301620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6FD23-6B13-4FE2-BC8B-1029901B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78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Faces and first movements in the vines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3B17-7F77-4EAD-A24F-A0CEE308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A457E-3BE7-43CD-94C5-98DC4A0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Hands, repetition, fatigue and banter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313F7-3AE5-46B5-9E6B-E63EF9E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C2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C27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9F944-C0DE-491C-B7B7-0B022D19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group together, then wine as the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08715-2FA3-4128-AB98-B5BB936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794"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F5F1E7"/>
                </a:solidFill>
                <a:latin typeface="Arial"/>
                <a:ea typeface="Arial"/>
                <a:cs typeface="Arial"/>
              </a:rPr>
              <a:t>Keep the camera close enough to feel the work, quiet enough to let the people speak for themselves.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FCBC7-6AC5-4FF3-B94B-8BA1A8D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GRAPE PICKING / REFERENCE NOTES / 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E846F-A4F5-4C03-A70C-28AFCF76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5F1E7"/>
                </a:solidFill>
                <a:latin typeface="Arial"/>
                <a:ea typeface="Arial"/>
                <a:cs typeface="Arial"/>
              </a:rPr>
              <a:t>Source: videos.md</a:t>
            </a:r>
          </a:p>
        </p:txBody>
      </p:sp>
    </p:spTree>
    <p:extLst>
      <p:ext uri="{BB962C8B-B14F-4D97-AF65-F5344CB8AC3E}">
        <p14:creationId xmlns:p14="http://schemas.microsoft.com/office/powerpoint/2010/main" val="2067043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2026-09-17T08:36:13.9100000Z</dcterms:created>
  <dcterms:modified xsi:type="dcterms:W3CDTF">2026-09-17T08:36:13.9100000Z</dcterms:modified>
</coreProperties>
</file>