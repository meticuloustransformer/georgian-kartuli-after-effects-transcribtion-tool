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bc871aa9940e7" /><Relationship Type="http://schemas.openxmlformats.org/officeDocument/2006/relationships/extended-properties" Target="/docProps/app.xml" Id="R634fabe91eac4b88" /><Relationship Type="http://schemas.openxmlformats.org/officeDocument/2006/relationships/officeDocument" Target="/ppt/presentation.xml" Id="R780c19c40214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f63e4f217416e"/>
  </p:sldMasterIdLst>
  <p:notesMasterIdLst>
    <p:notesMasterId xmlns:r="http://schemas.openxmlformats.org/officeDocument/2006/relationships" r:id="Rcd3e8fa2b056478d"/>
  </p:notesMasterIdLst>
  <p:sldIdLst>
    <p:sldId xmlns:r="http://schemas.openxmlformats.org/officeDocument/2006/relationships" id="256" r:id="R45b636f0b70e49e8"/>
    <p:sldId xmlns:r="http://schemas.openxmlformats.org/officeDocument/2006/relationships" id="257" r:id="Rb0143e3658e541d8"/>
    <p:sldId xmlns:r="http://schemas.openxmlformats.org/officeDocument/2006/relationships" id="258" r:id="Rea252fcea0a9447e"/>
    <p:sldId xmlns:r="http://schemas.openxmlformats.org/officeDocument/2006/relationships" id="259" r:id="R76273533e4e4473a"/>
    <p:sldId xmlns:r="http://schemas.openxmlformats.org/officeDocument/2006/relationships" id="260" r:id="R4f2b9a39e6c549ae"/>
    <p:sldId xmlns:r="http://schemas.openxmlformats.org/officeDocument/2006/relationships" id="261" r:id="R09093693b8d9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ee37c35b554aca" /><Relationship Type="http://schemas.openxmlformats.org/officeDocument/2006/relationships/slideMaster" Target="/ppt/slideMasters/slideMaster1.xml" Id="R6bcf63e4f217416e" /><Relationship Type="http://schemas.openxmlformats.org/officeDocument/2006/relationships/notesMaster" Target="/ppt/notesMasters/notesMaster1.xml" Id="Rcd3e8fa2b056478d" /><Relationship Type="http://schemas.openxmlformats.org/officeDocument/2006/relationships/presProps" Target="/ppt/presProps.xml" Id="R72c5aca0772245fc" /><Relationship Type="http://schemas.openxmlformats.org/officeDocument/2006/relationships/tableStyles" Target="/ppt/tableStyles.xml" Id="Rc793b0843c2e4fe8" /><Relationship Type="http://schemas.openxmlformats.org/officeDocument/2006/relationships/slide" Target="/ppt/slides/slide1.xml" Id="R45b636f0b70e49e8" /><Relationship Type="http://schemas.openxmlformats.org/officeDocument/2006/relationships/slide" Target="/ppt/slides/slide2.xml" Id="Rb0143e3658e541d8" /><Relationship Type="http://schemas.openxmlformats.org/officeDocument/2006/relationships/slide" Target="/ppt/slides/slide3.xml" Id="Rea252fcea0a9447e" /><Relationship Type="http://schemas.openxmlformats.org/officeDocument/2006/relationships/slide" Target="/ppt/slides/slide4.xml" Id="R76273533e4e4473a" /><Relationship Type="http://schemas.openxmlformats.org/officeDocument/2006/relationships/slide" Target="/ppt/slides/slide5.xml" Id="R4f2b9a39e6c549ae" /><Relationship Type="http://schemas.openxmlformats.org/officeDocument/2006/relationships/slide" Target="/ppt/slides/slide6.xml" Id="R09093693b8d9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87257a6d25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8aaa7e4084d43" /><Relationship Type="http://schemas.openxmlformats.org/officeDocument/2006/relationships/notesMaster" Target="/ppt/notesMasters/notesMaster1.xml" Id="R4996a4b622eb46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d06cdb779d4ce7" /><Relationship Type="http://schemas.openxmlformats.org/officeDocument/2006/relationships/notesMaster" Target="/ppt/notesMasters/notesMaster1.xml" Id="Rec5d541f9c27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513b4e7924533" /><Relationship Type="http://schemas.openxmlformats.org/officeDocument/2006/relationships/notesMaster" Target="/ppt/notesMasters/notesMaster1.xml" Id="R7595741eb25d47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c179b673354db5" /><Relationship Type="http://schemas.openxmlformats.org/officeDocument/2006/relationships/notesMaster" Target="/ppt/notesMasters/notesMaster1.xml" Id="Rc73e52eba40a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4b0f283014031" /><Relationship Type="http://schemas.openxmlformats.org/officeDocument/2006/relationships/notesMaster" Target="/ppt/notesMasters/notesMaster1.xml" Id="Re0c3394959aa40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9cfe9a024e4bdd" /><Relationship Type="http://schemas.openxmlformats.org/officeDocument/2006/relationships/notesMaster" Target="/ppt/notesMasters/notesMaster1.xml" Id="R8e97024cf0f5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F:/GrapePicking/videos.md. No external factual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videos.md, Vimeo reference https://vimeo.com/293392791. Description paraphrases the supplied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links copied from F:/GrapePicking/videos.md.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videos.md, Vimeo reference https://vimeo.com/1050552369. The visual-language wording follows the supplied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videos.md, https://www.adsoftheworld.com/campaigns/the-original-startup and https://vimeo.com/1089436364. The final line is a proposed working direction inferred from the supplied reference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edit map inferred from the supplied reference notes. It introduces no unverified production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ecd745123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3ecd13f1c4212" /><Relationship Type="http://schemas.openxmlformats.org/officeDocument/2006/relationships/slideLayout" Target="/ppt/slideLayouts/slideLayout1.xml" Id="Rdf00d81079d1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0d81079d1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3301edc714826" /><Relationship Type="http://schemas.openxmlformats.org/officeDocument/2006/relationships/notesSlide" Target="/ppt/notesSlides/notesSlide1.xml" Id="Rd98162a33a5a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19af4a0cb462a" /><Relationship Type="http://schemas.openxmlformats.org/officeDocument/2006/relationships/hyperlink" Target="https://vimeo.com/293392791?utm_source=chatgpt.com" TargetMode="External" Id="R2c059ba2071f4685" /><Relationship Type="http://schemas.openxmlformats.org/officeDocument/2006/relationships/notesSlide" Target="/ppt/notesSlides/notesSlide2.xml" Id="Rbba0c831403c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7b7a73e6d4487" /><Relationship Type="http://schemas.openxmlformats.org/officeDocument/2006/relationships/hyperlink" Target="https://vimeo.com/293392791?utm_source=chatgpt.com" TargetMode="External" Id="R9ad2fd79bdea4531" /><Relationship Type="http://schemas.openxmlformats.org/officeDocument/2006/relationships/hyperlink" Target="https://vimeo.com/1050552369?utm_source=chatgpt.com" TargetMode="External" Id="R16af404390f04d55" /><Relationship Type="http://schemas.openxmlformats.org/officeDocument/2006/relationships/hyperlink" Target="https://www.adsoftheworld.com/campaigns/the-original-startup?utm_source=chatgpt.com" TargetMode="External" Id="Rf2f9b24be4e742f4" /><Relationship Type="http://schemas.openxmlformats.org/officeDocument/2006/relationships/hyperlink" Target="https://vimeo.com/1089436364?utm_source=chatgpt.com" TargetMode="External" Id="R4a59fb73eeed4bcb" /><Relationship Type="http://schemas.openxmlformats.org/officeDocument/2006/relationships/notesSlide" Target="/ppt/notesSlides/notesSlide3.xml" Id="Rd85832158726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ab1d5c5f4190" /><Relationship Type="http://schemas.openxmlformats.org/officeDocument/2006/relationships/notesSlide" Target="/ppt/notesSlides/notesSlide4.xml" Id="Rc5ed2ac646314e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4bfcb37104010" /><Relationship Type="http://schemas.openxmlformats.org/officeDocument/2006/relationships/notesSlide" Target="/ppt/notesSlides/notesSlide5.xml" Id="R704e1610b31f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1185a6204059" /><Relationship Type="http://schemas.openxmlformats.org/officeDocument/2006/relationships/notesSlide" Target="/ppt/notesSlides/notesSlide6.xml" Id="Rb3925572bc45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C18E-A858-45FD-9080-8B2C844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E9EA0-9064-415F-8065-1D76270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78"/>
          </a:bodyPr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2A231-6879-4AB0-BC75-2398DCC5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Film reference directions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30905-0803-4558-8EAA-2EA5A38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compact reading of four supplied references for a grape-harvest film.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EE647-185C-4731-8485-20A68A0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A53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5368"/>
                </a:solidFill>
                <a:latin typeface="Arial"/>
                <a:ea typeface="Arial"/>
                <a:cs typeface="Arial"/>
              </a:rPr>
              <a:t>WORKERS / RHYTHM / WINE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875D8-B3A5-4D1D-A92E-00286028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Selected video and campaign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FB311-8066-43F1-BD14-9BA3DDE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AB1A6-DA57-4791-8030-CC08AD1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1841612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5E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8CC05-EC8D-4072-B991-5095C09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The strongest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15C68-0B87-442D-B6BC-FCB846EA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BE295-27AD-494A-8680-0C261C0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9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Champagne, France</a:t>
            </a:r>
          </a:p>
          <a:p xmlns:a="http://schemas.openxmlformats.org/drawingml/2006/main">
            <a:pPr>
              <a:defRPr sz="32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Laura Naylor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B9955-C24B-4B7A-8585-15BD993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Feature-length cinéma-vérité documentary following the same harvest workers as they return each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90F40-3042-4FA9-9565-10A2A76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The human relationships carry the film.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6141D-A2E4-4DAE-995C-311AB95D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4333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Bodies, fatigue, banter, social class, shared meals and sleeping arrangements create a temporary working community.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BA6D5-4229-49CD-8617-AF3B5B0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62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Vimeo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DCF3E-CF2F-4A84-9C11-FD82FBB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67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500" b="1" u="sng">
                <a:solidFill>
                  <a:srgbClr val="D9C27A"/>
                </a:solidFill>
                <a:latin typeface="Arial"/>
                <a:ea typeface="Arial"/>
                <a:cs typeface="Arial"/>
                <a:hlinkClick xmlns:r="http://schemas.openxmlformats.org/officeDocument/2006/relationships" r:id="R2c059ba2071f4685"/>
              </a:rPr>
              <a:t>Open on Vimeo: vimeo.com/293392791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FA43E-7F09-4BDF-A107-3E87B2E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CB9CC-99BA-4EF3-8E32-3DCEEFB3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437942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5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7400E-ED55-4386-940A-6C5C147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Reference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3D95E-EBD1-4F15-8C43-7470A55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1621-C561-4AE6-B53E-56BEC7B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Open any title below to watch or review the original source.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4ECC0-A9CF-4F62-9C16-5F5E085F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500" b="1" u="sng">
                <a:solidFill>
                  <a:srgbClr val="D9C27A"/>
                </a:solidFill>
                <a:latin typeface="Arial"/>
                <a:ea typeface="Arial"/>
                <a:cs typeface="Arial"/>
                <a:hlinkClick xmlns:r="http://schemas.openxmlformats.org/officeDocument/2006/relationships" r:id="R9ad2fd79bdea4531"/>
              </a:rPr>
              <a:t>Champagne, France — Laura Naylor / Vimeo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EA53-5F06-425A-AE0D-AEB831D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500" b="1" u="sng">
                <a:solidFill>
                  <a:srgbClr val="D9C27A"/>
                </a:solidFill>
                <a:latin typeface="Arial"/>
                <a:ea typeface="Arial"/>
                <a:cs typeface="Arial"/>
                <a:hlinkClick xmlns:r="http://schemas.openxmlformats.org/officeDocument/2006/relationships" r:id="R16af404390f04d55"/>
              </a:rPr>
              <a:t>Visual reference / Vimeo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0CEE9-BB84-490B-A284-77149D0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500" b="1" u="sng">
                <a:solidFill>
                  <a:srgbClr val="D9C27A"/>
                </a:solidFill>
                <a:latin typeface="Arial"/>
                <a:ea typeface="Arial"/>
                <a:cs typeface="Arial"/>
                <a:hlinkClick xmlns:r="http://schemas.openxmlformats.org/officeDocument/2006/relationships" r:id="Rf2f9b24be4e742f4"/>
              </a:rPr>
              <a:t>INNISKILLIN: The Original Startup / Ads of the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B68A4-4B2A-4094-8FD8-182A4CD0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500" b="1" u="sng">
                <a:solidFill>
                  <a:srgbClr val="D9C27A"/>
                </a:solidFill>
                <a:latin typeface="Arial"/>
                <a:ea typeface="Arial"/>
                <a:cs typeface="Arial"/>
                <a:hlinkClick xmlns:r="http://schemas.openxmlformats.org/officeDocument/2006/relationships" r:id="R4a59fb73eeed4bcb"/>
              </a:rPr>
              <a:t>Harvest and pouring story / Vimeo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8655F-6B73-4476-8869-D4DA791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8A536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8A5368"/>
                </a:solidFill>
                <a:latin typeface="Arial"/>
                <a:ea typeface="Arial"/>
                <a:cs typeface="Arial"/>
              </a:rPr>
              <a:t>All links supplied in videos.md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00317-0741-4B42-A024-2BB77566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78096-9B64-462F-869C-41A019A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2127464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BFC4E-4DDC-42DF-951E-BD92A23D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Visual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A25F-1803-4BC0-AB57-E795191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22095-F76E-4088-8048-19EF9E75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Observe the work at human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E9B85-44DA-4EEB-9B00-4F5F145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02056-36B7-449B-AF51-5FA5E6D2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Hands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CF6DD-EDDE-4F62-BD4D-3292A57E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Silhouettes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D19B2-38D4-465D-9AA1-21984D8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Repetition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C3141-39EE-4016-ACD7-1B31AF23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Expressions and small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0B795-F248-4276-808C-157088A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Touch, tools and stained skin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81F32-0494-4E26-BF84-E4862968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57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Workers within the vineyard landscape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58CB1-D372-429F-B77F-49CC63F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physical pattern of picking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8A441-BB65-40CB-8955-6B289F65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Use restraint. Avoid heroic advertising clichés about hard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9A882-490E-446C-B075-DB1905E3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FEEB2-9AD5-4AF0-BB95-4A5B52F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1672957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64D7A-196C-4950-B122-1653988D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Two storytelling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E12C4-DB35-4264-88AB-67F796AB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1F33"/>
          </a:solidFill>
          <a:ln xmlns:a="http://schemas.openxmlformats.org/drawingml/2006/main" w="0">
            <a:solidFill>
              <a:srgbClr val="5E1F3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048F2-3DFB-431F-975F-AA698C0B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5E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E1F33"/>
                </a:solidFill>
                <a:latin typeface="Arial"/>
                <a:ea typeface="Arial"/>
                <a:cs typeface="Arial"/>
              </a:rPr>
              <a:t>The harvest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C6D64-7B67-4A23-AA5E-9FF1EF5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An ordinary story of picking and the words around pouring wine. The supplied reference points to a 1:22 treatment.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59F71-26DB-46BE-AD1D-F6C31C3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526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5E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E1F33"/>
                </a:solidFill>
                <a:latin typeface="Arial"/>
                <a:ea typeface="Arial"/>
                <a:cs typeface="Arial"/>
              </a:rPr>
              <a:t>The wine brand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53D3-140D-47CC-A15D-40AD6FEE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INNISKILLIN tells a wine success story in one minute. The supplied note says this reference is less about the harvest itself.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CA2C1-27BD-4984-ADFD-B4B88D8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F755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F7551"/>
                </a:solidFill>
                <a:latin typeface="Arial"/>
                <a:ea typeface="Arial"/>
                <a:cs typeface="Arial"/>
              </a:rPr>
              <a:t>Useful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5F8AD-90BE-4073-BB99-2ED059C0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82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Let the workers and the picking lead. Let wine remain the outcome, not the protagonist.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9FCDE-E30A-42D6-8DA5-7C832364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3DEAC-A5BF-4D01-A6A2-B666099D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945089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F7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9C19F-5AD1-489C-B856-A43A047F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Working film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3CB05-E3E3-4A1F-A4F3-B54F36B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2F26-EC26-4734-B221-E911395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28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harvest story built from people, physical rhythm and the shared life around the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8F894-0806-4232-93C2-5A8876F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6B02B-3925-48AA-9F52-11A5FC6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78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Faces and first movements in the vines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209E3-0789-4F95-8902-84FC4315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DE74D-9C54-4411-A56C-DB79A985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Hands, repetition, fatigue and banter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27B70-9EF3-48EB-BBF8-D427C08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A0872-ACB0-4A60-A7BB-5130992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group together, then wine as the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83775-9C3F-4F3D-871D-AF08C57F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794"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F5F1E7"/>
                </a:solidFill>
                <a:latin typeface="Arial"/>
                <a:ea typeface="Arial"/>
                <a:cs typeface="Arial"/>
              </a:rPr>
              <a:t>Keep the camera close enough to feel the work, quiet enough to let the people speak for themselves.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2E51A-3265-4DB1-A807-F57D969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A2855-34D8-45FB-BB53-6605A2A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743110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2026-09-17T08:47:29.5470000Z</dcterms:created>
  <dcterms:modified xsi:type="dcterms:W3CDTF">2026-09-17T08:47:29.5470000Z</dcterms:modified>
</coreProperties>
</file>